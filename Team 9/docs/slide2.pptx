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4" r:id="rId1"/>
  </p:sldMasterIdLst>
  <p:sldIdLst>
    <p:sldId id="258" r:id="rId2"/>
    <p:sldId id="256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9777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3836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682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22054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1272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6241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22415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73065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78219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81902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9690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8615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210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89170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3010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01229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1663B-9744-4B8D-8D24-1F6507B1AFBC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5407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  <p:sldLayoutId id="2147483947" r:id="rId13"/>
    <p:sldLayoutId id="2147483948" r:id="rId14"/>
    <p:sldLayoutId id="2147483949" r:id="rId15"/>
    <p:sldLayoutId id="214748395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7">
            <a:extLst>
              <a:ext uri="{FF2B5EF4-FFF2-40B4-BE49-F238E27FC236}">
                <a16:creationId xmlns:a16="http://schemas.microsoft.com/office/drawing/2014/main" id="{445945DA-28FC-C294-2EF4-8E84AD2561E2}"/>
              </a:ext>
            </a:extLst>
          </p:cNvPr>
          <p:cNvSpPr txBox="1">
            <a:spLocks/>
          </p:cNvSpPr>
          <p:nvPr/>
        </p:nvSpPr>
        <p:spPr>
          <a:xfrm>
            <a:off x="2791423" y="4852583"/>
            <a:ext cx="8029903" cy="1592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b="1"/>
              <a:t>📚 Khóa học: </a:t>
            </a:r>
            <a:r>
              <a:rPr lang="vi-VN"/>
              <a:t>Đồ án </a:t>
            </a:r>
            <a:r>
              <a:rPr lang="vi-VN">
                <a:latin typeface="+mj-lt"/>
              </a:rPr>
              <a:t>tin</a:t>
            </a:r>
            <a:r>
              <a:rPr lang="vi-VN"/>
              <a:t> học</a:t>
            </a:r>
          </a:p>
          <a:p>
            <a:pPr marL="0" indent="0">
              <a:buNone/>
            </a:pPr>
            <a:r>
              <a:rPr lang="vi-VN" b="1"/>
              <a:t>👨‍🎓 Người thực hiện: </a:t>
            </a:r>
            <a:r>
              <a:rPr lang="vi-VN"/>
              <a:t>Mai Anh Hào – </a:t>
            </a:r>
            <a:r>
              <a:rPr lang="vi-VN" b="1"/>
              <a:t>MSSV: </a:t>
            </a:r>
            <a:r>
              <a:rPr lang="vi-VN"/>
              <a:t>DH52300473</a:t>
            </a:r>
          </a:p>
          <a:p>
            <a:pPr marL="0" indent="0">
              <a:buNone/>
            </a:pPr>
            <a:r>
              <a:rPr lang="vi-VN" b="1"/>
              <a:t>👨‍🏫 Giáo viên hướng dẫn: </a:t>
            </a:r>
            <a:r>
              <a:rPr lang="vi-VN"/>
              <a:t>Ths</a:t>
            </a:r>
            <a:r>
              <a:rPr lang="vi-VN" b="1"/>
              <a:t>.</a:t>
            </a:r>
            <a:r>
              <a:rPr lang="vi-VN"/>
              <a:t>Hoàng Công Quang Huy</a:t>
            </a:r>
          </a:p>
          <a:p>
            <a:endParaRPr lang="vi-VN"/>
          </a:p>
          <a:p>
            <a:endParaRPr lang="vi-VN"/>
          </a:p>
        </p:txBody>
      </p:sp>
      <p:sp>
        <p:nvSpPr>
          <p:cNvPr id="5" name="Subtitle 7">
            <a:extLst>
              <a:ext uri="{FF2B5EF4-FFF2-40B4-BE49-F238E27FC236}">
                <a16:creationId xmlns:a16="http://schemas.microsoft.com/office/drawing/2014/main" id="{993EAC73-8D40-EC02-DDE6-9CDD7ED16C5E}"/>
              </a:ext>
            </a:extLst>
          </p:cNvPr>
          <p:cNvSpPr txBox="1">
            <a:spLocks/>
          </p:cNvSpPr>
          <p:nvPr/>
        </p:nvSpPr>
        <p:spPr>
          <a:xfrm>
            <a:off x="1186968" y="1560743"/>
            <a:ext cx="8029903" cy="2137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3600" b="1">
                <a:solidFill>
                  <a:schemeClr val="accent1"/>
                </a:solidFill>
                <a:latin typeface="+mj-lt"/>
              </a:rPr>
              <a:t>XÂY DỰNG CẤU TRÚC DỮ LIỆU VÀ GIẢI THUẬT ĐÁP ỨNG CHO HỆ THỐNG QUẢN LÝ KHO HÀNG</a:t>
            </a:r>
          </a:p>
          <a:p>
            <a:pPr marL="0" indent="0">
              <a:buNone/>
            </a:pPr>
            <a:endParaRPr lang="vi-VN" sz="36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25763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52E6E0-1C69-6B7B-A6C5-B580EA6D4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640" y="0"/>
            <a:ext cx="8818880" cy="833120"/>
          </a:xfrm>
        </p:spPr>
        <p:txBody>
          <a:bodyPr>
            <a:normAutofit/>
          </a:bodyPr>
          <a:lstStyle/>
          <a:p>
            <a:pPr algn="l"/>
            <a:r>
              <a:rPr lang="vi-VN" sz="2200" b="1"/>
              <a:t>🏭 BÀI TẬP 2 – QUẢN LÝ HÀNG HÓA THEO FIFO TRONG KHO</a:t>
            </a:r>
            <a:br>
              <a:rPr lang="vi-VN" sz="2200" b="1"/>
            </a:br>
            <a:endParaRPr lang="vi-VN" sz="22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8E6242-C25A-ADEA-F6C5-3E236DF44DA1}"/>
              </a:ext>
            </a:extLst>
          </p:cNvPr>
          <p:cNvSpPr txBox="1"/>
          <p:nvPr/>
        </p:nvSpPr>
        <p:spPr>
          <a:xfrm>
            <a:off x="1123892" y="524450"/>
            <a:ext cx="864405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600" b="1">
                <a:solidFill>
                  <a:schemeClr val="accent1"/>
                </a:solidFill>
              </a:rPr>
              <a:t>Ý TƯỞNG THIẾT KẾ</a:t>
            </a:r>
          </a:p>
          <a:p>
            <a:r>
              <a:rPr lang="vi-VN" sz="1600" b="1"/>
              <a:t>📦 </a:t>
            </a:r>
            <a:r>
              <a:rPr lang="vi-VN" sz="1600" b="1">
                <a:solidFill>
                  <a:srgbClr val="7030A0"/>
                </a:solidFill>
              </a:rPr>
              <a:t>Cấu trúc dữ liệu chính:</a:t>
            </a:r>
          </a:p>
          <a:p>
            <a:r>
              <a:rPr lang="vi-VN" sz="1600"/>
              <a:t>▸</a:t>
            </a:r>
            <a:r>
              <a:rPr lang="vi-VN" sz="1600" b="1"/>
              <a:t>Mảng 3 chiều (HangHoa[,,]):</a:t>
            </a:r>
            <a:r>
              <a:rPr lang="vi-VN" sz="1600"/>
              <a:t> Mô phỏng kho hàng vật lý với tọa độ X, Y, Z</a:t>
            </a:r>
          </a:p>
          <a:p>
            <a:r>
              <a:rPr lang="vi-VN" sz="1600"/>
              <a:t>▸</a:t>
            </a:r>
            <a:r>
              <a:rPr lang="vi-VN" sz="1600" b="1"/>
              <a:t>Dictionary&lt;string, ViTri&gt;:</a:t>
            </a:r>
            <a:r>
              <a:rPr lang="vi-VN" sz="1600"/>
              <a:t> Tra cứu nhanh vị trí hàng theo mã (O(1))</a:t>
            </a:r>
          </a:p>
          <a:p>
            <a:r>
              <a:rPr lang="vi-VN" sz="1600"/>
              <a:t>▸</a:t>
            </a:r>
            <a:r>
              <a:rPr lang="vi-VN" sz="1600" b="1"/>
              <a:t>Queue&lt;ViTri&gt;:</a:t>
            </a:r>
            <a:r>
              <a:rPr lang="vi-VN" sz="1600"/>
              <a:t> Quản lý danh sách ô trống, hỗ trợ FIFO cho việc xếp hàng</a:t>
            </a:r>
          </a:p>
          <a:p>
            <a:r>
              <a:rPr lang="vi-VN" sz="1600" b="1"/>
              <a:t>⚙️ </a:t>
            </a:r>
            <a:r>
              <a:rPr lang="vi-VN" sz="1600" b="1">
                <a:solidFill>
                  <a:srgbClr val="7030A0"/>
                </a:solidFill>
              </a:rPr>
              <a:t>Các thuật toán chính:</a:t>
            </a:r>
          </a:p>
          <a:p>
            <a:r>
              <a:rPr lang="vi-VN" sz="1600" b="1"/>
              <a:t>1. ThemHang()</a:t>
            </a:r>
          </a:p>
          <a:p>
            <a:r>
              <a:rPr lang="vi-VN" sz="1600"/>
              <a:t>Lấy ô trống từ Queue, thêm vào mảng 3D và Dictionary</a:t>
            </a:r>
          </a:p>
          <a:p>
            <a:r>
              <a:rPr lang="vi-VN" sz="1600"/>
              <a:t>Độ phức tạp: O(1)</a:t>
            </a:r>
          </a:p>
          <a:p>
            <a:r>
              <a:rPr lang="vi-VN" sz="1600" b="1"/>
              <a:t>2. LayFIFO()</a:t>
            </a:r>
          </a:p>
          <a:p>
            <a:r>
              <a:rPr lang="vi-VN" sz="1600"/>
              <a:t>Duyệt tất cả hàng, tìm hàng có NgayNhap cũ nhất</a:t>
            </a:r>
          </a:p>
          <a:p>
            <a:r>
              <a:rPr lang="vi-VN" sz="1600"/>
              <a:t>Độ phức tạp: O(n)</a:t>
            </a:r>
          </a:p>
          <a:p>
            <a:r>
              <a:rPr lang="vi-VN" sz="1600" b="1"/>
              <a:t>3. LayUuTien()</a:t>
            </a:r>
          </a:p>
          <a:p>
            <a:r>
              <a:rPr lang="vi-VN" sz="1600"/>
              <a:t>Lọc theo loại, chọn hàng có ưu tiên thấp nhất (cao nhất)</a:t>
            </a:r>
          </a:p>
          <a:p>
            <a:r>
              <a:rPr lang="vi-VN" sz="1600"/>
              <a:t>Độ phức tạp: O(n)</a:t>
            </a:r>
          </a:p>
          <a:p>
            <a:r>
              <a:rPr lang="vi-VN" sz="1600" b="1"/>
              <a:t>4. TimMa()</a:t>
            </a:r>
          </a:p>
          <a:p>
            <a:r>
              <a:rPr lang="vi-VN" sz="1600"/>
              <a:t>Tra cứu trực tiếp qua Dictionary</a:t>
            </a:r>
          </a:p>
          <a:p>
            <a:r>
              <a:rPr lang="vi-VN" sz="1600"/>
              <a:t>Độ phức tạp: O(1)</a:t>
            </a:r>
          </a:p>
          <a:p>
            <a:r>
              <a:rPr lang="vi-VN" sz="1600" b="1"/>
              <a:t>🎯 </a:t>
            </a:r>
            <a:r>
              <a:rPr lang="vi-VN" sz="1600" b="1">
                <a:solidFill>
                  <a:srgbClr val="7030A0"/>
                </a:solidFill>
              </a:rPr>
              <a:t>Đặc điểm nổi bật:</a:t>
            </a:r>
          </a:p>
          <a:p>
            <a:r>
              <a:rPr lang="vi-VN" sz="1600"/>
              <a:t>✓Hỗ trợ FIFO và Priority-based</a:t>
            </a:r>
          </a:p>
          <a:p>
            <a:r>
              <a:rPr lang="vi-VN" sz="1600"/>
              <a:t>✓Lưu/đọc file để bảo toàn dữ liệu</a:t>
            </a:r>
          </a:p>
          <a:p>
            <a:r>
              <a:rPr lang="vi-VN" sz="1600"/>
              <a:t>✓Thống kê theo loại hàng</a:t>
            </a:r>
          </a:p>
          <a:p>
            <a:r>
              <a:rPr lang="vi-VN" sz="1600"/>
              <a:t>✓Quản lý ô trống hiệu quả</a:t>
            </a:r>
          </a:p>
          <a:p>
            <a:br>
              <a:rPr lang="vi-VN" sz="1600"/>
            </a:br>
            <a:br>
              <a:rPr lang="vi-VN" sz="1600"/>
            </a:br>
            <a:br>
              <a:rPr lang="vi-VN" sz="1600"/>
            </a:br>
            <a:endParaRPr lang="vi-VN" sz="1600"/>
          </a:p>
        </p:txBody>
      </p:sp>
    </p:spTree>
    <p:extLst>
      <p:ext uri="{BB962C8B-B14F-4D97-AF65-F5344CB8AC3E}">
        <p14:creationId xmlns:p14="http://schemas.microsoft.com/office/powerpoint/2010/main" val="1807620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5B2D6-447F-D5E1-C092-97A52F71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288" y="137124"/>
            <a:ext cx="4704894" cy="478420"/>
          </a:xfrm>
        </p:spPr>
        <p:txBody>
          <a:bodyPr>
            <a:normAutofit/>
          </a:bodyPr>
          <a:lstStyle/>
          <a:p>
            <a:r>
              <a:rPr lang="vi-VN" sz="1600" b="1"/>
              <a:t>KẾT </a:t>
            </a:r>
            <a:r>
              <a:rPr lang="vi-VN" sz="1800" b="1"/>
              <a:t>QUẢ</a:t>
            </a:r>
            <a:r>
              <a:rPr lang="vi-VN" sz="1600" b="1"/>
              <a:t> VÀ GIỚI HẠN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0CA19-0453-6D44-4388-D93FE3497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288" y="594480"/>
            <a:ext cx="3906241" cy="5885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b="1" u="sng">
                <a:solidFill>
                  <a:srgbClr val="7030A0"/>
                </a:solidFill>
              </a:rPr>
              <a:t>Kết quả đạt được</a:t>
            </a:r>
          </a:p>
          <a:p>
            <a:pPr marL="0" indent="0">
              <a:buNone/>
            </a:pPr>
            <a:r>
              <a:rPr lang="vi-VN" b="1"/>
              <a:t>1. Chức năng hoàn chỉnh</a:t>
            </a:r>
          </a:p>
          <a:p>
            <a:pPr marL="284163" indent="-115888">
              <a:buNone/>
            </a:pPr>
            <a:r>
              <a:rPr lang="vi-VN"/>
              <a:t>• Thêm/xuất hàng theo FIFO</a:t>
            </a:r>
          </a:p>
          <a:p>
            <a:pPr marL="284163" indent="-115888">
              <a:buNone/>
            </a:pPr>
            <a:r>
              <a:rPr lang="vi-VN"/>
              <a:t>• Xuất hàng theo độ ưu tiên</a:t>
            </a:r>
          </a:p>
          <a:p>
            <a:pPr marL="284163" indent="-115888">
              <a:buNone/>
            </a:pPr>
            <a:r>
              <a:rPr lang="vi-VN"/>
              <a:t>• Tìm kiếm và theo dõi vị trí</a:t>
            </a:r>
          </a:p>
          <a:p>
            <a:pPr marL="284163" indent="-115888">
              <a:buNone/>
            </a:pPr>
            <a:r>
              <a:rPr lang="vi-VN"/>
              <a:t>• Thống kê theo loại hàng</a:t>
            </a:r>
          </a:p>
          <a:p>
            <a:pPr marL="0" indent="0">
              <a:buNone/>
            </a:pPr>
            <a:r>
              <a:rPr lang="vi-VN" b="1"/>
              <a:t>2. Hiệu suất tốt</a:t>
            </a:r>
          </a:p>
          <a:p>
            <a:pPr marL="284163" indent="-115888">
              <a:buNone/>
            </a:pPr>
            <a:r>
              <a:rPr lang="vi-VN"/>
              <a:t>• Thêm hàng: </a:t>
            </a:r>
            <a:r>
              <a:rPr lang="vi-VN" b="1"/>
              <a:t>O(1)</a:t>
            </a:r>
            <a:endParaRPr lang="vi-VN"/>
          </a:p>
          <a:p>
            <a:pPr marL="284163" indent="-115888">
              <a:buNone/>
            </a:pPr>
            <a:r>
              <a:rPr lang="vi-VN"/>
              <a:t>• Tìm kiếm theo mã: </a:t>
            </a:r>
            <a:r>
              <a:rPr lang="vi-VN" b="1"/>
              <a:t>O(1)</a:t>
            </a:r>
            <a:endParaRPr lang="vi-VN"/>
          </a:p>
          <a:p>
            <a:pPr marL="284163" indent="-115888">
              <a:buNone/>
            </a:pPr>
            <a:r>
              <a:rPr lang="vi-VN"/>
              <a:t>• Quản lý không gian hiệu quả</a:t>
            </a:r>
          </a:p>
          <a:p>
            <a:pPr marL="0" indent="0">
              <a:buNone/>
            </a:pPr>
            <a:r>
              <a:rPr lang="vi-VN" b="1"/>
              <a:t>3. Bền vững</a:t>
            </a:r>
          </a:p>
          <a:p>
            <a:pPr marL="284163" indent="-115888">
              <a:buNone/>
            </a:pPr>
            <a:r>
              <a:rPr lang="vi-VN"/>
              <a:t>• Lưu/đọc file tự động</a:t>
            </a:r>
          </a:p>
          <a:p>
            <a:pPr marL="284163" indent="-115888">
              <a:buNone/>
            </a:pPr>
            <a:r>
              <a:rPr lang="vi-VN"/>
              <a:t>• Xử lý lỗi đầy đủ</a:t>
            </a:r>
          </a:p>
          <a:p>
            <a:pPr marL="284163" indent="-115888">
              <a:buNone/>
            </a:pPr>
            <a:r>
              <a:rPr lang="vi-VN"/>
              <a:t>• Giao diện console thân thiện</a:t>
            </a:r>
          </a:p>
          <a:p>
            <a:pPr marL="0" indent="0">
              <a:buNone/>
            </a:pPr>
            <a:endParaRPr lang="vi-V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8D6B36D-F719-97CD-223B-50EE9B226EE3}"/>
              </a:ext>
            </a:extLst>
          </p:cNvPr>
          <p:cNvSpPr txBox="1">
            <a:spLocks/>
          </p:cNvSpPr>
          <p:nvPr/>
        </p:nvSpPr>
        <p:spPr>
          <a:xfrm>
            <a:off x="4421529" y="594480"/>
            <a:ext cx="5563299" cy="55175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vi-VN" sz="1800" b="1" u="sng">
                <a:solidFill>
                  <a:srgbClr val="7030A0"/>
                </a:solidFill>
                <a:latin typeface="+mn-lt"/>
              </a:rPr>
              <a:t>Giới hạn hiện có</a:t>
            </a:r>
          </a:p>
          <a:p>
            <a:r>
              <a:rPr lang="vi-VN" sz="1800" b="1">
                <a:solidFill>
                  <a:schemeClr val="tx1"/>
                </a:solidFill>
                <a:latin typeface="+mn-lt"/>
              </a:rPr>
              <a:t>1. Độ phức tạp xuất hàng</a:t>
            </a:r>
          </a:p>
          <a:p>
            <a:pPr marL="284163" indent="-52388"/>
            <a:r>
              <a:rPr lang="vi-VN" sz="1800">
                <a:solidFill>
                  <a:schemeClr val="tx1"/>
                </a:solidFill>
                <a:latin typeface="+mn-lt"/>
              </a:rPr>
              <a:t>• LayFIFO() và LayUuTien(): O(n)</a:t>
            </a:r>
          </a:p>
          <a:p>
            <a:pPr marL="284163" indent="-52388"/>
            <a:r>
              <a:rPr lang="vi-VN" sz="1800">
                <a:solidFill>
                  <a:schemeClr val="tx1"/>
                </a:solidFill>
                <a:latin typeface="+mn-lt"/>
              </a:rPr>
              <a:t>→ Có thể tối ưu bằng Min-Heap cho FIFO hoặc Priority Queue</a:t>
            </a:r>
          </a:p>
          <a:p>
            <a:r>
              <a:rPr lang="vi-VN" sz="1800" b="1">
                <a:solidFill>
                  <a:schemeClr val="tx1"/>
                </a:solidFill>
                <a:latin typeface="+mn-lt"/>
              </a:rPr>
              <a:t>2. Quản lý không gian</a:t>
            </a:r>
          </a:p>
          <a:p>
            <a:pPr marL="284163" indent="-52388"/>
            <a:r>
              <a:rPr lang="vi-VN" sz="1800">
                <a:solidFill>
                  <a:schemeClr val="tx1"/>
                </a:solidFill>
                <a:latin typeface="+mn-lt"/>
              </a:rPr>
              <a:t>• Mảng 3D cố định, lãng phí bộ nhớ nếu kho thưa</a:t>
            </a:r>
          </a:p>
          <a:p>
            <a:pPr marL="284163" indent="-52388"/>
            <a:r>
              <a:rPr lang="vi-VN" sz="1800">
                <a:solidFill>
                  <a:schemeClr val="tx1"/>
                </a:solidFill>
                <a:latin typeface="+mn-lt"/>
              </a:rPr>
              <a:t>→ Có thể dùng Dictionary&lt;ViTri, HangHoa&gt; thay vì mảng</a:t>
            </a:r>
          </a:p>
          <a:p>
            <a:r>
              <a:rPr lang="vi-VN" sz="1800" b="1">
                <a:solidFill>
                  <a:schemeClr val="tx1"/>
                </a:solidFill>
                <a:latin typeface="+mn-lt"/>
              </a:rPr>
              <a:t>3. Chức năng mở rộng</a:t>
            </a:r>
          </a:p>
          <a:p>
            <a:pPr marL="284163" indent="-52388"/>
            <a:r>
              <a:rPr lang="vi-VN" sz="1800">
                <a:solidFill>
                  <a:schemeClr val="tx1"/>
                </a:solidFill>
                <a:latin typeface="+mn-lt"/>
              </a:rPr>
              <a:t>• Chưa hỗ trợ cập nhật số lượng</a:t>
            </a:r>
          </a:p>
          <a:p>
            <a:pPr marL="284163" indent="-52388"/>
            <a:r>
              <a:rPr lang="vi-VN" sz="1800">
                <a:solidFill>
                  <a:schemeClr val="tx1"/>
                </a:solidFill>
                <a:latin typeface="+mn-lt"/>
              </a:rPr>
              <a:t>• Chưa có tính năng di chuyển hàng</a:t>
            </a:r>
          </a:p>
          <a:p>
            <a:pPr marL="284163" indent="-52388"/>
            <a:r>
              <a:rPr lang="vi-VN" sz="1800">
                <a:solidFill>
                  <a:schemeClr val="tx1"/>
                </a:solidFill>
                <a:latin typeface="+mn-lt"/>
              </a:rPr>
              <a:t>• Chưa xử lý hàng có kích thước khác nhau</a:t>
            </a:r>
          </a:p>
          <a:p>
            <a:r>
              <a:rPr lang="vi-VN" sz="1800" b="1" u="sng">
                <a:solidFill>
                  <a:srgbClr val="7030A0"/>
                </a:solidFill>
                <a:latin typeface="+mn-lt"/>
              </a:rPr>
              <a:t>Hướng phát triển</a:t>
            </a:r>
          </a:p>
          <a:p>
            <a:pPr marL="284163" indent="-52388"/>
            <a:r>
              <a:rPr lang="vi-VN" sz="1800">
                <a:solidFill>
                  <a:schemeClr val="tx1"/>
                </a:solidFill>
                <a:latin typeface="+mn-lt"/>
              </a:rPr>
              <a:t>Sử dụng Heap cho FIFO (O(log n)), Dictionary động cho tiết kiệm bộ nhớ</a:t>
            </a:r>
          </a:p>
        </p:txBody>
      </p:sp>
    </p:spTree>
    <p:extLst>
      <p:ext uri="{BB962C8B-B14F-4D97-AF65-F5344CB8AC3E}">
        <p14:creationId xmlns:p14="http://schemas.microsoft.com/office/powerpoint/2010/main" val="340483928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B337316-2109-4DEF-AC06-7E484AB2E4F4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393</TotalTime>
  <Words>485</Words>
  <Application>Microsoft Office PowerPoint</Application>
  <PresentationFormat>Widescreen</PresentationFormat>
  <Paragraphs>57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</vt:lpstr>
      <vt:lpstr>PowerPoint Presentation</vt:lpstr>
      <vt:lpstr>🏭 BÀI TẬP 2 – QUẢN LÝ HÀNG HÓA THEO FIFO TRONG KHO </vt:lpstr>
      <vt:lpstr>KẾT QUẢ VÀ GIỚI HẠN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Hào Mai Anh</dc:creator>
  <cp:lastModifiedBy>Hào Mai Anh</cp:lastModifiedBy>
  <cp:revision>17</cp:revision>
  <dcterms:created xsi:type="dcterms:W3CDTF">2025-10-25T13:42:52Z</dcterms:created>
  <dcterms:modified xsi:type="dcterms:W3CDTF">2025-11-30T23:24:49Z</dcterms:modified>
</cp:coreProperties>
</file>