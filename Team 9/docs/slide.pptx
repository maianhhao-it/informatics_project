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4" r:id="rId1"/>
  </p:sldMasterIdLst>
  <p:sldIdLst>
    <p:sldId id="258" r:id="rId2"/>
    <p:sldId id="256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9777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23836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6824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22054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1272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62411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22415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73065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78219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81902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9690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28615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9210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89170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83010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01229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1663B-9744-4B8D-8D24-1F6507B1AFBC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54078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  <p:sldLayoutId id="2147483946" r:id="rId12"/>
    <p:sldLayoutId id="2147483947" r:id="rId13"/>
    <p:sldLayoutId id="2147483948" r:id="rId14"/>
    <p:sldLayoutId id="2147483949" r:id="rId15"/>
    <p:sldLayoutId id="214748395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7">
            <a:extLst>
              <a:ext uri="{FF2B5EF4-FFF2-40B4-BE49-F238E27FC236}">
                <a16:creationId xmlns:a16="http://schemas.microsoft.com/office/drawing/2014/main" id="{445945DA-28FC-C294-2EF4-8E84AD2561E2}"/>
              </a:ext>
            </a:extLst>
          </p:cNvPr>
          <p:cNvSpPr txBox="1">
            <a:spLocks/>
          </p:cNvSpPr>
          <p:nvPr/>
        </p:nvSpPr>
        <p:spPr>
          <a:xfrm>
            <a:off x="2791423" y="4852583"/>
            <a:ext cx="8029903" cy="1592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b="1"/>
              <a:t>📚 Khóa học: </a:t>
            </a:r>
            <a:r>
              <a:rPr lang="vi-VN"/>
              <a:t>Đồ án </a:t>
            </a:r>
            <a:r>
              <a:rPr lang="vi-VN">
                <a:latin typeface="+mj-lt"/>
              </a:rPr>
              <a:t>tin</a:t>
            </a:r>
            <a:r>
              <a:rPr lang="vi-VN"/>
              <a:t> học</a:t>
            </a:r>
          </a:p>
          <a:p>
            <a:pPr marL="0" indent="0">
              <a:buNone/>
            </a:pPr>
            <a:r>
              <a:rPr lang="vi-VN" b="1"/>
              <a:t>👨‍🎓 Người thực hiện: </a:t>
            </a:r>
            <a:r>
              <a:rPr lang="vi-VN"/>
              <a:t>Mai Anh Hào – </a:t>
            </a:r>
            <a:r>
              <a:rPr lang="vi-VN" b="1"/>
              <a:t>MSSV: </a:t>
            </a:r>
            <a:r>
              <a:rPr lang="vi-VN"/>
              <a:t>DH52300473</a:t>
            </a:r>
          </a:p>
          <a:p>
            <a:pPr marL="0" indent="0">
              <a:buNone/>
            </a:pPr>
            <a:r>
              <a:rPr lang="vi-VN" b="1"/>
              <a:t>👨‍🏫 Giáo viên hướng dẫn: </a:t>
            </a:r>
            <a:r>
              <a:rPr lang="vi-VN"/>
              <a:t>Ths</a:t>
            </a:r>
            <a:r>
              <a:rPr lang="vi-VN" b="1"/>
              <a:t>.</a:t>
            </a:r>
            <a:r>
              <a:rPr lang="vi-VN"/>
              <a:t>Hoàng Công Quang Huy</a:t>
            </a:r>
          </a:p>
          <a:p>
            <a:endParaRPr lang="vi-VN"/>
          </a:p>
          <a:p>
            <a:endParaRPr lang="vi-VN"/>
          </a:p>
        </p:txBody>
      </p:sp>
      <p:sp>
        <p:nvSpPr>
          <p:cNvPr id="5" name="Subtitle 7">
            <a:extLst>
              <a:ext uri="{FF2B5EF4-FFF2-40B4-BE49-F238E27FC236}">
                <a16:creationId xmlns:a16="http://schemas.microsoft.com/office/drawing/2014/main" id="{993EAC73-8D40-EC02-DDE6-9CDD7ED16C5E}"/>
              </a:ext>
            </a:extLst>
          </p:cNvPr>
          <p:cNvSpPr txBox="1">
            <a:spLocks/>
          </p:cNvSpPr>
          <p:nvPr/>
        </p:nvSpPr>
        <p:spPr>
          <a:xfrm>
            <a:off x="1186968" y="1560743"/>
            <a:ext cx="8029903" cy="21374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sz="3600" b="1">
                <a:solidFill>
                  <a:schemeClr val="accent1"/>
                </a:solidFill>
                <a:latin typeface="+mj-lt"/>
              </a:rPr>
              <a:t>XÂY DỰNG CẤU TRÚC DỮ LIỆU VÀ GIẢI THUẬT ĐÁP ỨNG CHO HỆ THỐNG QUẢN LÝ KHO HÀNG</a:t>
            </a:r>
          </a:p>
          <a:p>
            <a:pPr marL="0" indent="0">
              <a:buNone/>
            </a:pPr>
            <a:endParaRPr lang="vi-VN" sz="36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25763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52E6E0-1C69-6B7B-A6C5-B580EA6D4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640" y="0"/>
            <a:ext cx="8818880" cy="833120"/>
          </a:xfrm>
        </p:spPr>
        <p:txBody>
          <a:bodyPr>
            <a:normAutofit/>
          </a:bodyPr>
          <a:lstStyle/>
          <a:p>
            <a:pPr algn="l"/>
            <a:r>
              <a:rPr lang="vi-VN" sz="2200" b="1"/>
              <a:t>🏭 BÀI TẬP 1 - TÌM ĐƯỜNG NGẮN NHẤT TRONG KHO HÀNG</a:t>
            </a:r>
            <a:br>
              <a:rPr lang="vi-VN" sz="2200" b="1"/>
            </a:br>
            <a:endParaRPr lang="vi-VN" sz="22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8E6242-C25A-ADEA-F6C5-3E236DF44DA1}"/>
              </a:ext>
            </a:extLst>
          </p:cNvPr>
          <p:cNvSpPr txBox="1"/>
          <p:nvPr/>
        </p:nvSpPr>
        <p:spPr>
          <a:xfrm>
            <a:off x="1144270" y="586795"/>
            <a:ext cx="7893050" cy="735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600" b="1">
                <a:solidFill>
                  <a:schemeClr val="accent1"/>
                </a:solidFill>
              </a:rPr>
              <a:t>Ý TƯỞNG THIẾT KẾ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600" b="1"/>
              <a:t>Mục tiêu bài toán</a:t>
            </a:r>
          </a:p>
          <a:p>
            <a:pPr marL="517525" indent="-233363">
              <a:buFont typeface="Arial" panose="020B0604020202020204" pitchFamily="34" charset="0"/>
              <a:buChar char="•"/>
            </a:pPr>
            <a:r>
              <a:rPr lang="vi-VN" sz="1600"/>
              <a:t>Tìm đường đi ngắn nhất cho xe vận chuyển hàng từ vị trí xuất phát đến khay hàng cần lấy trong kho, tránh các vật cản.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600" b="1"/>
              <a:t>Cấu trúc dữ liệu</a:t>
            </a:r>
          </a:p>
          <a:p>
            <a:pPr marL="517525" indent="-233363">
              <a:buFont typeface="Arial" panose="020B0604020202020204" pitchFamily="34" charset="0"/>
              <a:buChar char="•"/>
            </a:pPr>
            <a:r>
              <a:rPr lang="vi-VN" sz="1600" b="1"/>
              <a:t>Ma trận 2D (int[,]):</a:t>
            </a:r>
            <a:r>
              <a:rPr lang="vi-VN" sz="1600"/>
              <a:t> Lưu trữ bản đồ kho hàng (0 = đi được, 1 = vật cản)</a:t>
            </a:r>
          </a:p>
          <a:p>
            <a:pPr marL="517525" indent="-233363">
              <a:buFont typeface="Arial" panose="020B0604020202020204" pitchFamily="34" charset="0"/>
              <a:buChar char="•"/>
            </a:pPr>
            <a:r>
              <a:rPr lang="vi-VN" sz="1600" b="1"/>
              <a:t>Ví dụ bản đồ 4x5:</a:t>
            </a:r>
          </a:p>
          <a:p>
            <a:pPr marL="284162"/>
            <a:endParaRPr lang="vi-VN" sz="1600"/>
          </a:p>
          <a:p>
            <a:pPr marL="284162"/>
            <a:endParaRPr lang="vi-VN" sz="1600"/>
          </a:p>
          <a:p>
            <a:pPr marL="284162"/>
            <a:endParaRPr lang="vi-VN" sz="1600"/>
          </a:p>
          <a:p>
            <a:pPr marL="284162"/>
            <a:endParaRPr lang="vi-VN" sz="1600"/>
          </a:p>
          <a:p>
            <a:pPr marL="284162"/>
            <a:endParaRPr lang="vi-VN" sz="160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600" b="1"/>
              <a:t>Thuật toán BFS                                               </a:t>
            </a:r>
          </a:p>
          <a:p>
            <a:pPr marL="517525" indent="-233363">
              <a:buFont typeface="Arial" panose="020B0604020202020204" pitchFamily="34" charset="0"/>
              <a:buChar char="•"/>
            </a:pPr>
            <a:r>
              <a:rPr lang="vi-VN" sz="1600"/>
              <a:t>Duyệt theo chiều rộng từ điểm xuất phát</a:t>
            </a:r>
          </a:p>
          <a:p>
            <a:pPr marL="517525" indent="-233363">
              <a:buFont typeface="Arial" panose="020B0604020202020204" pitchFamily="34" charset="0"/>
              <a:buChar char="•"/>
            </a:pPr>
            <a:r>
              <a:rPr lang="vi-VN" sz="1600"/>
              <a:t>Đảm bảo tìm được đường ngắn nhất</a:t>
            </a:r>
          </a:p>
          <a:p>
            <a:pPr marL="517525" indent="-233363">
              <a:buFont typeface="Arial" panose="020B0604020202020204" pitchFamily="34" charset="0"/>
              <a:buChar char="•"/>
            </a:pPr>
            <a:r>
              <a:rPr lang="pt-BR" b="1"/>
              <a:t>Queue:</a:t>
            </a:r>
            <a:r>
              <a:rPr lang="pt-BR"/>
              <a:t> Hàng đợi FIFO cho BFS</a:t>
            </a:r>
            <a:endParaRPr lang="vi-VN" sz="1600"/>
          </a:p>
          <a:p>
            <a:pPr marL="517525" indent="-233363">
              <a:buFont typeface="Arial" panose="020B0604020202020204" pitchFamily="34" charset="0"/>
              <a:buChar char="•"/>
            </a:pPr>
            <a:r>
              <a:rPr lang="vi-VN" sz="1600"/>
              <a:t>Duyệt 4 hướng (lên, xuống, trái, phải)</a:t>
            </a:r>
          </a:p>
          <a:p>
            <a:pPr marL="517525" indent="-233363">
              <a:buFont typeface="Arial" panose="020B0604020202020204" pitchFamily="34" charset="0"/>
              <a:buChar char="•"/>
            </a:pPr>
            <a:r>
              <a:rPr lang="vi-VN" sz="1600"/>
              <a:t>Độ phức tạp: </a:t>
            </a:r>
          </a:p>
          <a:p>
            <a:pPr marL="630238" indent="-630238"/>
            <a:r>
              <a:rPr lang="vi-VN" sz="1600"/>
              <a:t>	 </a:t>
            </a:r>
            <a:r>
              <a:rPr lang="vi-VN" sz="1600">
                <a:solidFill>
                  <a:srgbClr val="FF0000"/>
                </a:solidFill>
              </a:rPr>
              <a:t>Thời gian:O(V + E) = O( M x N)</a:t>
            </a:r>
          </a:p>
          <a:p>
            <a:pPr marL="630238" indent="-630238"/>
            <a:r>
              <a:rPr lang="vi-VN" sz="1600">
                <a:solidFill>
                  <a:srgbClr val="FF0000"/>
                </a:solidFill>
              </a:rPr>
              <a:t>	 Không gian: O(M x N)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b="1"/>
              <a:t>Chức năng</a:t>
            </a:r>
            <a:endParaRPr lang="vi-VN"/>
          </a:p>
          <a:p>
            <a:pPr marL="346075" indent="171450">
              <a:buFont typeface="Arial" panose="020B0604020202020204" pitchFamily="34" charset="0"/>
              <a:buChar char="•"/>
            </a:pPr>
            <a:r>
              <a:rPr lang="vi-VN"/>
              <a:t>Mode 1: Tìm đường giữa 2 điểm (Start → End)</a:t>
            </a:r>
            <a:endParaRPr lang="vi-VN" sz="1600"/>
          </a:p>
          <a:p>
            <a:pPr marL="346075" indent="171450">
              <a:buFont typeface="Arial" panose="020B0604020202020204" pitchFamily="34" charset="0"/>
              <a:buChar char="•"/>
            </a:pPr>
            <a:r>
              <a:rPr lang="vi-VN"/>
              <a:t>Mode 2: Tìm đường qua nhiều điểm (Waypoints)</a:t>
            </a:r>
            <a:endParaRPr lang="vi-VN" sz="1600"/>
          </a:p>
          <a:p>
            <a:pPr marL="284162"/>
            <a:endParaRPr lang="pt-BR" sz="1600"/>
          </a:p>
          <a:p>
            <a:br>
              <a:rPr lang="vi-VN" sz="1600"/>
            </a:br>
            <a:br>
              <a:rPr lang="vi-VN" sz="1600"/>
            </a:br>
            <a:br>
              <a:rPr lang="vi-VN" sz="1600"/>
            </a:br>
            <a:endParaRPr lang="vi-VN" sz="16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CBC6DC-3CE0-7EE5-51FD-204A460FF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816" y="2335058"/>
            <a:ext cx="2338323" cy="123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620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5B2D6-447F-D5E1-C092-97A52F719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288" y="137124"/>
            <a:ext cx="4704894" cy="478420"/>
          </a:xfrm>
        </p:spPr>
        <p:txBody>
          <a:bodyPr>
            <a:normAutofit/>
          </a:bodyPr>
          <a:lstStyle/>
          <a:p>
            <a:r>
              <a:rPr lang="vi-VN" sz="1600" b="1"/>
              <a:t>KẾT </a:t>
            </a:r>
            <a:r>
              <a:rPr lang="vi-VN" sz="1800" b="1"/>
              <a:t>QUẢ</a:t>
            </a:r>
            <a:r>
              <a:rPr lang="vi-VN" sz="1600" b="1"/>
              <a:t> VÀ GIỚI HẠN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0CA19-0453-6D44-4388-D93FE3497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288" y="594480"/>
            <a:ext cx="3906241" cy="5885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b="1" u="sng"/>
              <a:t>Kết quả đạt được</a:t>
            </a:r>
          </a:p>
          <a:p>
            <a:pPr marL="0" indent="0">
              <a:buNone/>
            </a:pPr>
            <a:r>
              <a:rPr lang="vi-VN" b="1" i="1"/>
              <a:t>Test case 1: </a:t>
            </a:r>
            <a:r>
              <a:rPr lang="vi-VN"/>
              <a:t>Mode 1 (3x5,2 điểm)</a:t>
            </a:r>
          </a:p>
          <a:p>
            <a:r>
              <a:rPr lang="vi-VN"/>
              <a:t>Input: Start (0,0) -&gt; End (2,4)</a:t>
            </a:r>
          </a:p>
          <a:p>
            <a:r>
              <a:rPr lang="vi-VN"/>
              <a:t>Output: 6 bước</a:t>
            </a:r>
          </a:p>
          <a:p>
            <a:r>
              <a:rPr lang="vi-VN"/>
              <a:t>Bản đồ kết quả:</a:t>
            </a:r>
          </a:p>
          <a:p>
            <a:pPr marL="0" indent="0">
              <a:buNone/>
            </a:pPr>
            <a:endParaRPr lang="vi-VN"/>
          </a:p>
          <a:p>
            <a:pPr marL="0" indent="0">
              <a:buNone/>
            </a:pPr>
            <a:endParaRPr lang="vi-VN"/>
          </a:p>
          <a:p>
            <a:pPr marL="0" indent="0">
              <a:buNone/>
            </a:pPr>
            <a:r>
              <a:rPr lang="vi-VN" b="1" i="1"/>
              <a:t>Test Case 2: Mode 2(4x6,3 điểm)</a:t>
            </a:r>
          </a:p>
          <a:p>
            <a:r>
              <a:rPr lang="vi-VN"/>
              <a:t>Input: (0,0) -&gt; (0,5) -&gt; (3,5)</a:t>
            </a:r>
          </a:p>
          <a:p>
            <a:r>
              <a:rPr lang="vi-VN"/>
              <a:t>Output: 8 bước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Đi qua 3 waypoints theo thứ tự</a:t>
            </a:r>
            <a:endParaRPr lang="vi-VN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vi-VN"/>
              <a:t>Bản đồ kết quả:</a:t>
            </a:r>
          </a:p>
          <a:p>
            <a:pPr marL="0" indent="0">
              <a:buNone/>
            </a:pPr>
            <a:endParaRPr lang="vi-VN"/>
          </a:p>
          <a:p>
            <a:pPr marL="0" indent="0">
              <a:buNone/>
            </a:pPr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E9D1F5-0A05-9AC9-D669-53A58EAEF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800" y="2592090"/>
            <a:ext cx="1399907" cy="8299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D6B780-9549-F95C-FB3F-6DCE96011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920" y="5398581"/>
            <a:ext cx="1761666" cy="129115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8D6B36D-F719-97CD-223B-50EE9B226EE3}"/>
              </a:ext>
            </a:extLst>
          </p:cNvPr>
          <p:cNvSpPr txBox="1">
            <a:spLocks/>
          </p:cNvSpPr>
          <p:nvPr/>
        </p:nvSpPr>
        <p:spPr>
          <a:xfrm>
            <a:off x="4421529" y="557412"/>
            <a:ext cx="5845215" cy="36971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vi-VN" sz="1800" b="1" u="sng">
                <a:solidFill>
                  <a:schemeClr val="tx1"/>
                </a:solidFill>
                <a:latin typeface="+mn-lt"/>
              </a:rPr>
              <a:t>Giới hạn hiện có</a:t>
            </a:r>
            <a:endParaRPr lang="vi-VN" sz="1800" u="sng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>
                <a:solidFill>
                  <a:schemeClr val="tx1"/>
                </a:solidFill>
                <a:latin typeface="+mn-lt"/>
              </a:rPr>
              <a:t>Chỉ tối ưu cho lưới nhỏ/vừa (&lt; 1000×1000)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>
                <a:solidFill>
                  <a:schemeClr val="tx1"/>
                </a:solidFill>
                <a:latin typeface="+mn-lt"/>
              </a:rPr>
              <a:t>Mode 2: Đi theo thứ tự cho trước (chưa tối ưu TSP)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>
                <a:solidFill>
                  <a:schemeClr val="tx1"/>
                </a:solidFill>
                <a:latin typeface="+mn-lt"/>
              </a:rPr>
              <a:t>Chỉ hỗ trợ di chuyển 4 hướng (lên/xuống/trái/phải)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>
                <a:solidFill>
                  <a:schemeClr val="tx1"/>
                </a:solidFill>
                <a:latin typeface="+mn-lt"/>
              </a:rPr>
              <a:t>Không hỗ trợ trọng số khác nhau giữa các ô</a:t>
            </a:r>
          </a:p>
          <a:p>
            <a:r>
              <a:rPr lang="vi-VN" sz="1800" b="1" u="sng">
                <a:solidFill>
                  <a:schemeClr val="tx1"/>
                </a:solidFill>
                <a:latin typeface="+mn-lt"/>
              </a:rPr>
              <a:t>Hướng phát triển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vi-VN" sz="1800">
                <a:solidFill>
                  <a:schemeClr val="tx1"/>
                </a:solidFill>
                <a:latin typeface="+mn-lt"/>
              </a:rPr>
              <a:t>A* algorithm cho hiệu năng tốt hơn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vi-VN" sz="1800">
                <a:solidFill>
                  <a:schemeClr val="tx1"/>
                </a:solidFill>
                <a:latin typeface="+mn-lt"/>
              </a:rPr>
              <a:t>Tối ưu thứ tự waypoints (TSP solver)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vi-VN" sz="1800">
                <a:solidFill>
                  <a:schemeClr val="tx1"/>
                </a:solidFill>
                <a:latin typeface="+mn-lt"/>
              </a:rPr>
              <a:t>Hỗ trợ di chuyển 8 hướng (chéo)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vi-VN" sz="1800">
                <a:solidFill>
                  <a:schemeClr val="tx1"/>
                </a:solidFill>
                <a:latin typeface="+mn-lt"/>
              </a:rPr>
              <a:t>Thêm trọng số cho các loại địa hình</a:t>
            </a:r>
            <a:endParaRPr lang="vi-VN" sz="1800" b="1" u="sng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483928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B337316-2109-4DEF-AC06-7E484AB2E4F4}">
  <we:reference id="wa200005566" version="3.0.0.2" store="en-GB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369</TotalTime>
  <Words>400</Words>
  <Application>Microsoft Office PowerPoint</Application>
  <PresentationFormat>Widescreen</PresentationFormat>
  <Paragraphs>52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Trebuchet MS</vt:lpstr>
      <vt:lpstr>Wingdings</vt:lpstr>
      <vt:lpstr>Wingdings 3</vt:lpstr>
      <vt:lpstr>Facet</vt:lpstr>
      <vt:lpstr>PowerPoint Presentation</vt:lpstr>
      <vt:lpstr>🏭 BÀI TẬP 1 - TÌM ĐƯỜNG NGẮN NHẤT TRONG KHO HÀNG </vt:lpstr>
      <vt:lpstr>KẾT QUẢ VÀ GIỚI HẠN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Hào Mai Anh</dc:creator>
  <cp:lastModifiedBy>Hào Mai Anh</cp:lastModifiedBy>
  <cp:revision>16</cp:revision>
  <dcterms:created xsi:type="dcterms:W3CDTF">2025-10-25T13:42:52Z</dcterms:created>
  <dcterms:modified xsi:type="dcterms:W3CDTF">2025-11-07T01:30:39Z</dcterms:modified>
</cp:coreProperties>
</file>