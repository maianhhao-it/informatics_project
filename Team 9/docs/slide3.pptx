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4" r:id="rId1"/>
  </p:sldMasterIdLst>
  <p:sldIdLst>
    <p:sldId id="258" r:id="rId2"/>
    <p:sldId id="256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3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9777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2383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82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22054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1272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2411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22415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7306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821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190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9690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8615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210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9170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83010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122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vi-V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1663B-9744-4B8D-8D24-1F6507B1AFBC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5A5B2C-549C-4D45-A0B1-2147B7740797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5407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3949" r:id="rId15"/>
    <p:sldLayoutId id="21474839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7">
            <a:extLst>
              <a:ext uri="{FF2B5EF4-FFF2-40B4-BE49-F238E27FC236}">
                <a16:creationId xmlns:a16="http://schemas.microsoft.com/office/drawing/2014/main" id="{445945DA-28FC-C294-2EF4-8E84AD2561E2}"/>
              </a:ext>
            </a:extLst>
          </p:cNvPr>
          <p:cNvSpPr txBox="1">
            <a:spLocks/>
          </p:cNvSpPr>
          <p:nvPr/>
        </p:nvSpPr>
        <p:spPr>
          <a:xfrm>
            <a:off x="2791423" y="4852583"/>
            <a:ext cx="8029903" cy="1592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b="1"/>
              <a:t>📚 Khóa học: </a:t>
            </a:r>
            <a:r>
              <a:rPr lang="vi-VN"/>
              <a:t>Đồ án </a:t>
            </a:r>
            <a:r>
              <a:rPr lang="vi-VN">
                <a:latin typeface="+mj-lt"/>
              </a:rPr>
              <a:t>tin</a:t>
            </a:r>
            <a:r>
              <a:rPr lang="vi-VN"/>
              <a:t> học</a:t>
            </a:r>
          </a:p>
          <a:p>
            <a:pPr marL="0" indent="0">
              <a:buNone/>
            </a:pPr>
            <a:r>
              <a:rPr lang="vi-VN" b="1"/>
              <a:t>👨‍🎓 Người thực hiện: </a:t>
            </a:r>
            <a:r>
              <a:rPr lang="vi-VN"/>
              <a:t>Mai Anh Hào – </a:t>
            </a:r>
            <a:r>
              <a:rPr lang="vi-VN" b="1"/>
              <a:t>MSSV: </a:t>
            </a:r>
            <a:r>
              <a:rPr lang="vi-VN"/>
              <a:t>DH52300473</a:t>
            </a:r>
          </a:p>
          <a:p>
            <a:pPr marL="0" indent="0">
              <a:buNone/>
            </a:pPr>
            <a:r>
              <a:rPr lang="vi-VN" b="1"/>
              <a:t>👨‍🏫 Giáo viên hướng dẫn: </a:t>
            </a:r>
            <a:r>
              <a:rPr lang="vi-VN"/>
              <a:t>Ths</a:t>
            </a:r>
            <a:r>
              <a:rPr lang="vi-VN" b="1"/>
              <a:t>.</a:t>
            </a:r>
            <a:r>
              <a:rPr lang="vi-VN"/>
              <a:t>Hoàng Công Quang Huy</a:t>
            </a:r>
          </a:p>
          <a:p>
            <a:endParaRPr lang="vi-VN"/>
          </a:p>
          <a:p>
            <a:endParaRPr lang="vi-VN"/>
          </a:p>
        </p:txBody>
      </p:sp>
      <p:sp>
        <p:nvSpPr>
          <p:cNvPr id="5" name="Subtitle 7">
            <a:extLst>
              <a:ext uri="{FF2B5EF4-FFF2-40B4-BE49-F238E27FC236}">
                <a16:creationId xmlns:a16="http://schemas.microsoft.com/office/drawing/2014/main" id="{993EAC73-8D40-EC02-DDE6-9CDD7ED16C5E}"/>
              </a:ext>
            </a:extLst>
          </p:cNvPr>
          <p:cNvSpPr txBox="1">
            <a:spLocks/>
          </p:cNvSpPr>
          <p:nvPr/>
        </p:nvSpPr>
        <p:spPr>
          <a:xfrm>
            <a:off x="1186968" y="1560743"/>
            <a:ext cx="8029903" cy="21374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vi-VN" sz="3600" b="1">
                <a:solidFill>
                  <a:schemeClr val="accent1"/>
                </a:solidFill>
                <a:latin typeface="+mj-lt"/>
              </a:rPr>
              <a:t>XÂY DỰNG CẤU TRÚC DỮ LIỆU VÀ GIẢI THUẬT ĐÁP ỨNG CHO HỆ THỐNG QUẢN LÝ KHO HÀNG</a:t>
            </a:r>
          </a:p>
          <a:p>
            <a:pPr marL="0" indent="0">
              <a:buNone/>
            </a:pPr>
            <a:endParaRPr lang="vi-VN" sz="3600" b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576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52E6E0-1C69-6B7B-A6C5-B580EA6D4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40" y="0"/>
            <a:ext cx="8818880" cy="833120"/>
          </a:xfrm>
        </p:spPr>
        <p:txBody>
          <a:bodyPr>
            <a:normAutofit/>
          </a:bodyPr>
          <a:lstStyle/>
          <a:p>
            <a:pPr algn="l"/>
            <a:r>
              <a:rPr lang="vi-VN" sz="2200" b="1"/>
              <a:t>🏭 BÀI TẬP 3 – HỆ THỐNG CẢNH BÁO NHIỆT ĐỘ KHO LẠNH</a:t>
            </a:r>
            <a:br>
              <a:rPr lang="vi-VN" sz="2200" b="1"/>
            </a:br>
            <a:endParaRPr lang="vi-VN" sz="22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8A9C2-8D56-0C45-D272-A236F7E53598}"/>
              </a:ext>
            </a:extLst>
          </p:cNvPr>
          <p:cNvSpPr txBox="1"/>
          <p:nvPr/>
        </p:nvSpPr>
        <p:spPr>
          <a:xfrm>
            <a:off x="1278082" y="2763982"/>
            <a:ext cx="2337954" cy="8331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vi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8E6242-C25A-ADEA-F6C5-3E236DF44DA1}"/>
              </a:ext>
            </a:extLst>
          </p:cNvPr>
          <p:cNvSpPr txBox="1"/>
          <p:nvPr/>
        </p:nvSpPr>
        <p:spPr>
          <a:xfrm>
            <a:off x="955964" y="833120"/>
            <a:ext cx="8125691" cy="55399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vi-VN" sz="1600" b="1">
                <a:solidFill>
                  <a:schemeClr val="accent1"/>
                </a:solidFill>
              </a:rPr>
              <a:t>Ý TƯỞNG THIẾT KẾ</a:t>
            </a:r>
          </a:p>
          <a:p>
            <a:r>
              <a:rPr lang="vi-VN" sz="1600" b="1"/>
              <a:t>📦 </a:t>
            </a:r>
            <a:r>
              <a:rPr lang="vi-VN" sz="1600" b="1">
                <a:solidFill>
                  <a:srgbClr val="7030A0"/>
                </a:solidFill>
              </a:rPr>
              <a:t>Cấu trúc dữ liệu chính:</a:t>
            </a:r>
          </a:p>
          <a:p>
            <a:r>
              <a:rPr lang="vi-VN" sz="1600"/>
              <a:t>▸</a:t>
            </a:r>
            <a:r>
              <a:rPr lang="vi-VN" sz="1400" b="1"/>
              <a:t>Message: </a:t>
            </a:r>
            <a:r>
              <a:rPr lang="vi-VN" sz="1400"/>
              <a:t>Sensorld, Cycle, Row &amp; Col, Temperature  -  </a:t>
            </a:r>
            <a:r>
              <a:rPr lang="vi-VN" sz="1400" i="1">
                <a:highlight>
                  <a:srgbClr val="FFFF00"/>
                </a:highlight>
              </a:rPr>
              <a:t>Đóng gói dữ liệu từ cảm biến</a:t>
            </a:r>
            <a:endParaRPr lang="vi-VN" sz="1400">
              <a:highlight>
                <a:srgbClr val="FFFF00"/>
              </a:highlight>
            </a:endParaRPr>
          </a:p>
          <a:p>
            <a:r>
              <a:rPr lang="vi-VN" sz="1400"/>
              <a:t>▸</a:t>
            </a:r>
            <a:r>
              <a:rPr lang="vi-VN" sz="1400" b="1"/>
              <a:t>Sensor: </a:t>
            </a:r>
            <a:r>
              <a:rPr lang="vi-VN" sz="1400"/>
              <a:t>NhietDoHienTai, DemKhongDoi, NguongLoi,DaHu(flag) - </a:t>
            </a:r>
            <a:r>
              <a:rPr lang="vi-VN" sz="1400" i="1">
                <a:highlight>
                  <a:srgbClr val="FFFF00"/>
                </a:highlight>
              </a:rPr>
              <a:t>Trạng thái từng cảm biến</a:t>
            </a:r>
            <a:endParaRPr lang="vi-VN" sz="1400">
              <a:highlight>
                <a:srgbClr val="FFFF00"/>
              </a:highlight>
            </a:endParaRPr>
          </a:p>
          <a:p>
            <a:r>
              <a:rPr lang="vi-VN" sz="1600"/>
              <a:t>▸</a:t>
            </a:r>
            <a:r>
              <a:rPr lang="vi-VN" sz="1400" b="1"/>
              <a:t>ColdStorage: </a:t>
            </a:r>
            <a:r>
              <a:rPr lang="vi-VN" sz="1400"/>
              <a:t> Sensor[,] grid, Queue&lt;Message&gt;, List&lt;CanhBao&gt;,avgTruoc2x2[ - </a:t>
            </a:r>
            <a:r>
              <a:rPr lang="vi-VN" sz="1400" i="1">
                <a:highlight>
                  <a:srgbClr val="FFFF00"/>
                </a:highlight>
              </a:rPr>
              <a:t>Quản lý toàn hệ thống</a:t>
            </a:r>
          </a:p>
          <a:p>
            <a:endParaRPr lang="vi-VN" sz="1600"/>
          </a:p>
          <a:p>
            <a:r>
              <a:rPr lang="vi-VN" b="1"/>
              <a:t>🎯 </a:t>
            </a:r>
            <a:r>
              <a:rPr lang="vi-VN" b="1">
                <a:solidFill>
                  <a:srgbClr val="7030A0"/>
                </a:solidFill>
              </a:rPr>
              <a:t>Ba loại cảnh báo chính:</a:t>
            </a:r>
          </a:p>
          <a:p>
            <a:endParaRPr lang="vi-VN" b="1">
              <a:solidFill>
                <a:srgbClr val="7030A0"/>
              </a:solidFill>
            </a:endParaRPr>
          </a:p>
          <a:p>
            <a:endParaRPr lang="vi-VN" sz="1600" b="1"/>
          </a:p>
          <a:p>
            <a:endParaRPr lang="vi-VN" sz="1600" b="1"/>
          </a:p>
          <a:p>
            <a:endParaRPr lang="vi-VN" sz="1600" b="1"/>
          </a:p>
          <a:p>
            <a:endParaRPr lang="vi-VN" sz="1600" b="1"/>
          </a:p>
          <a:p>
            <a:endParaRPr lang="vi-VN" sz="1600" b="1"/>
          </a:p>
          <a:p>
            <a:endParaRPr lang="vi-VN" sz="1600" b="1"/>
          </a:p>
          <a:p>
            <a:endParaRPr lang="vi-VN" sz="1600" b="1"/>
          </a:p>
          <a:p>
            <a:r>
              <a:rPr lang="vi-VN" b="1"/>
              <a:t>⚙️ </a:t>
            </a:r>
            <a:r>
              <a:rPr lang="vi-VN" sz="1600" b="1">
                <a:solidFill>
                  <a:srgbClr val="7030A0"/>
                </a:solidFill>
              </a:rPr>
              <a:t>Quy trình xử lý mỗi chu kỳ:</a:t>
            </a:r>
          </a:p>
          <a:p>
            <a:r>
              <a:rPr lang="vi-VN" sz="1600" b="1"/>
              <a:t>Nhận (Queue.Dequeue) </a:t>
            </a:r>
            <a:r>
              <a:rPr lang="vi-VN" sz="1600">
                <a:solidFill>
                  <a:srgbClr val="EE0000"/>
                </a:solidFill>
              </a:rPr>
              <a:t>-&gt; </a:t>
            </a:r>
            <a:r>
              <a:rPr lang="vi-VN" sz="1600" b="1"/>
              <a:t>Cập nhật (Update Sensor)</a:t>
            </a:r>
            <a:r>
              <a:rPr lang="vi-VN" sz="1600" b="1">
                <a:solidFill>
                  <a:srgbClr val="EE0000"/>
                </a:solidFill>
              </a:rPr>
              <a:t> </a:t>
            </a:r>
            <a:r>
              <a:rPr lang="vi-VN" sz="1600">
                <a:solidFill>
                  <a:srgbClr val="EE0000"/>
                </a:solidFill>
              </a:rPr>
              <a:t>-&gt; </a:t>
            </a:r>
            <a:r>
              <a:rPr lang="vi-VN" sz="1600" b="1"/>
              <a:t>Kiểm tra hư (DemKhongDoi)</a:t>
            </a:r>
            <a:r>
              <a:rPr lang="vi-VN" sz="1600" b="1">
                <a:solidFill>
                  <a:srgbClr val="EE0000"/>
                </a:solidFill>
              </a:rPr>
              <a:t> </a:t>
            </a:r>
            <a:r>
              <a:rPr lang="vi-VN" sz="1600">
                <a:solidFill>
                  <a:srgbClr val="EE0000"/>
                </a:solidFill>
              </a:rPr>
              <a:t>-&gt; </a:t>
            </a:r>
            <a:r>
              <a:rPr lang="vi-VN" sz="1600" b="1"/>
              <a:t>Kiểm tra 2x2 (Nóng + Tăng) </a:t>
            </a:r>
            <a:r>
              <a:rPr lang="vi-VN" sz="1600" b="1">
                <a:solidFill>
                  <a:srgbClr val="EE0000"/>
                </a:solidFill>
              </a:rPr>
              <a:t> </a:t>
            </a:r>
            <a:r>
              <a:rPr lang="vi-VN" sz="1600">
                <a:solidFill>
                  <a:srgbClr val="EE0000"/>
                </a:solidFill>
              </a:rPr>
              <a:t>-&gt; </a:t>
            </a:r>
            <a:r>
              <a:rPr lang="vi-VN" sz="1600" b="1"/>
              <a:t>Ghi log (Save warnings)</a:t>
            </a:r>
            <a:br>
              <a:rPr lang="vi-VN" sz="1600"/>
            </a:br>
            <a:br>
              <a:rPr lang="vi-VN" sz="1600"/>
            </a:br>
            <a:br>
              <a:rPr lang="vi-VN" sz="1600"/>
            </a:br>
            <a:endParaRPr lang="vi-VN" sz="160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BEE6B5-E330-E849-55E0-19D555888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39" y="2917062"/>
            <a:ext cx="8738482" cy="180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20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5B2D6-447F-D5E1-C092-97A52F71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88" y="137124"/>
            <a:ext cx="4704894" cy="478420"/>
          </a:xfrm>
        </p:spPr>
        <p:txBody>
          <a:bodyPr>
            <a:normAutofit/>
          </a:bodyPr>
          <a:lstStyle/>
          <a:p>
            <a:r>
              <a:rPr lang="vi-VN" sz="1600" b="1"/>
              <a:t>KẾT </a:t>
            </a:r>
            <a:r>
              <a:rPr lang="vi-VN" sz="1800" b="1"/>
              <a:t>QUẢ</a:t>
            </a:r>
            <a:r>
              <a:rPr lang="vi-VN" sz="1600" b="1"/>
              <a:t> VÀ GIỚI HẠN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0CA19-0453-6D44-4388-D93FE349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288" y="594480"/>
            <a:ext cx="3906241" cy="5885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u="sng">
                <a:solidFill>
                  <a:srgbClr val="7030A0"/>
                </a:solidFill>
              </a:rPr>
              <a:t>Kết quả đạt được</a:t>
            </a:r>
          </a:p>
          <a:p>
            <a:pPr marL="0" indent="0">
              <a:buNone/>
            </a:pPr>
            <a:r>
              <a:rPr lang="vi-VN" b="1"/>
              <a:t>1. Chức năng hoàn chỉnh</a:t>
            </a:r>
          </a:p>
          <a:p>
            <a:pPr marL="519113" indent="-176213">
              <a:buFont typeface="Wingdings" panose="05000000000000000000" pitchFamily="2" charset="2"/>
              <a:buChar char="q"/>
            </a:pPr>
            <a:r>
              <a:rPr lang="vi-VN" sz="1300" b="1"/>
              <a:t>3 loại cảnh báo</a:t>
            </a:r>
            <a:r>
              <a:rPr lang="vi-VN" sz="1300"/>
              <a:t>: Hư, Nóng, Tăng đột ngột</a:t>
            </a:r>
          </a:p>
          <a:p>
            <a:pPr marL="519113" indent="-176213">
              <a:buFont typeface="Wingdings" panose="05000000000000000000" pitchFamily="2" charset="2"/>
              <a:buChar char="q"/>
            </a:pPr>
            <a:r>
              <a:rPr lang="vi-VN" sz="1300" b="1"/>
              <a:t>Xử lý theo chu kỳ</a:t>
            </a:r>
            <a:r>
              <a:rPr lang="vi-VN" sz="1300"/>
              <a:t>: Queue đảm bảo thứ tự</a:t>
            </a:r>
          </a:p>
          <a:p>
            <a:pPr marL="519113" indent="-176213">
              <a:buFont typeface="Wingdings" panose="05000000000000000000" pitchFamily="2" charset="2"/>
              <a:buChar char="q"/>
            </a:pPr>
            <a:r>
              <a:rPr lang="vi-VN" sz="1300" b="1"/>
              <a:t>Tự động phát hiện</a:t>
            </a:r>
            <a:r>
              <a:rPr lang="vi-VN" sz="1300"/>
              <a:t>: Không cần can thiệp</a:t>
            </a:r>
          </a:p>
          <a:p>
            <a:pPr marL="519113" indent="-176213">
              <a:buFont typeface="Wingdings" panose="05000000000000000000" pitchFamily="2" charset="2"/>
              <a:buChar char="q"/>
            </a:pPr>
            <a:r>
              <a:rPr lang="vi-VN" sz="1300" b="1"/>
              <a:t>Ghi log đầy đủ</a:t>
            </a:r>
            <a:r>
              <a:rPr lang="vi-VN" sz="1300"/>
              <a:t>: Lưu tất cả cảnh báo</a:t>
            </a:r>
          </a:p>
          <a:p>
            <a:pPr marL="0" indent="0">
              <a:buNone/>
            </a:pPr>
            <a:r>
              <a:rPr lang="vi-VN" b="1"/>
              <a:t>2. Hiệu suất tốt</a:t>
            </a:r>
          </a:p>
          <a:p>
            <a:pPr marL="519113" indent="-176213">
              <a:buFont typeface="Wingdings" panose="05000000000000000000" pitchFamily="2" charset="2"/>
              <a:buChar char="ü"/>
            </a:pPr>
            <a:r>
              <a:rPr lang="vi-VN" sz="1300"/>
              <a:t>Thêm message: </a:t>
            </a:r>
            <a:r>
              <a:rPr lang="vi-VN" sz="1300" b="1"/>
              <a:t>O(1)</a:t>
            </a:r>
            <a:r>
              <a:rPr lang="vi-VN" sz="1300"/>
              <a:t> - Queue.Enqueue</a:t>
            </a:r>
          </a:p>
          <a:p>
            <a:pPr marL="519113" indent="-176213">
              <a:buFont typeface="Wingdings" panose="05000000000000000000" pitchFamily="2" charset="2"/>
              <a:buChar char="ü"/>
            </a:pPr>
            <a:r>
              <a:rPr lang="vi-VN" sz="1300"/>
              <a:t>Xử lý 1 chu kỳ: </a:t>
            </a:r>
            <a:r>
              <a:rPr lang="vi-VN" sz="1300" b="1"/>
              <a:t>O(R×C)</a:t>
            </a:r>
            <a:r>
              <a:rPr lang="vi-VN" sz="1300"/>
              <a:t> - Duyệt lưới</a:t>
            </a:r>
          </a:p>
          <a:p>
            <a:pPr marL="519113" indent="-176213">
              <a:buFont typeface="Wingdings" panose="05000000000000000000" pitchFamily="2" charset="2"/>
              <a:buChar char="ü"/>
            </a:pPr>
            <a:r>
              <a:rPr lang="vi-VN" sz="1300"/>
              <a:t>Kiểm tra khu vực: </a:t>
            </a:r>
            <a:r>
              <a:rPr lang="vi-VN" sz="1300" b="1"/>
              <a:t>O(R×C)</a:t>
            </a:r>
            <a:r>
              <a:rPr lang="vi-VN" sz="1300"/>
              <a:t> - Duyệt 2×2</a:t>
            </a:r>
          </a:p>
          <a:p>
            <a:pPr marL="519113" indent="-176213">
              <a:buFont typeface="Wingdings" panose="05000000000000000000" pitchFamily="2" charset="2"/>
              <a:buChar char="ü"/>
            </a:pPr>
            <a:r>
              <a:rPr lang="vi-VN" sz="1300"/>
              <a:t>Tổng: </a:t>
            </a:r>
            <a:r>
              <a:rPr lang="vi-VN" sz="1300" b="1"/>
              <a:t>O(N×R×C)</a:t>
            </a:r>
            <a:r>
              <a:rPr lang="vi-VN" sz="1300"/>
              <a:t> - N chu kỳ</a:t>
            </a:r>
          </a:p>
          <a:p>
            <a:pPr marL="0" indent="0">
              <a:buNone/>
            </a:pPr>
            <a:r>
              <a:rPr lang="vi-VN" b="1"/>
              <a:t>3. Thiết kế linh hoạt</a:t>
            </a:r>
          </a:p>
          <a:p>
            <a:pPr marL="457200" indent="-114300">
              <a:buNone/>
            </a:pPr>
            <a:r>
              <a:rPr lang="vi-VN" sz="1300"/>
              <a:t>• Ngưỡng lỗi tùy chỉnh cho từng cảm biến</a:t>
            </a:r>
          </a:p>
          <a:p>
            <a:pPr marL="457200" indent="-114300">
              <a:buNone/>
            </a:pPr>
            <a:r>
              <a:rPr lang="vi-VN" sz="1300"/>
              <a:t>• Dễ mở rộng thêm loại cảnh báo mới</a:t>
            </a:r>
          </a:p>
          <a:p>
            <a:pPr marL="457200" indent="-114300">
              <a:buNone/>
            </a:pPr>
            <a:r>
              <a:rPr lang="vi-VN" sz="1300"/>
              <a:t>• Xử lý lưới bất kỳ kích thước R×C</a:t>
            </a:r>
          </a:p>
          <a:p>
            <a:pPr marL="457200" indent="-114300">
              <a:buNone/>
            </a:pPr>
            <a:r>
              <a:rPr lang="vi-VN" sz="1300"/>
              <a:t>• Đọc/ghi file tự động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8D6B36D-F719-97CD-223B-50EE9B226EE3}"/>
              </a:ext>
            </a:extLst>
          </p:cNvPr>
          <p:cNvSpPr txBox="1">
            <a:spLocks/>
          </p:cNvSpPr>
          <p:nvPr/>
        </p:nvSpPr>
        <p:spPr>
          <a:xfrm>
            <a:off x="4421529" y="594480"/>
            <a:ext cx="5563299" cy="55175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vi-VN" sz="1800" b="1" u="sng">
                <a:solidFill>
                  <a:srgbClr val="7030A0"/>
                </a:solidFill>
                <a:latin typeface="+mn-lt"/>
              </a:rPr>
              <a:t>Giới hạn hiện có</a:t>
            </a:r>
          </a:p>
          <a:p>
            <a:r>
              <a:rPr lang="vi-VN" sz="1800" b="1">
                <a:solidFill>
                  <a:schemeClr val="tx1"/>
                </a:solidFill>
                <a:latin typeface="+mn-lt"/>
              </a:rPr>
              <a:t>1. Xử Lý tuần tự mỗi chu kỳ</a:t>
            </a:r>
          </a:p>
          <a:p>
            <a:r>
              <a:rPr lang="vi-VN" sz="1800">
                <a:solidFill>
                  <a:schemeClr val="tx1"/>
                </a:solidFill>
                <a:latin typeface="+mn-lt"/>
              </a:rPr>
              <a:t>• </a:t>
            </a:r>
            <a:r>
              <a:rPr lang="vi-VN" sz="1400">
                <a:solidFill>
                  <a:schemeClr val="tx1"/>
                </a:solidFill>
                <a:latin typeface="+mn-lt"/>
              </a:rPr>
              <a:t>Độ phức tạp: </a:t>
            </a:r>
            <a:r>
              <a:rPr lang="vi-VN" sz="1400" b="1">
                <a:solidFill>
                  <a:schemeClr val="tx1"/>
                </a:solidFill>
                <a:latin typeface="+mn-lt"/>
              </a:rPr>
              <a:t>O(N×R×C)</a:t>
            </a:r>
            <a:r>
              <a:rPr lang="vi-VN" sz="1400">
                <a:solidFill>
                  <a:schemeClr val="tx1"/>
                </a:solidFill>
                <a:latin typeface="+mn-lt"/>
              </a:rPr>
              <a:t> với N chu kỳ</a:t>
            </a:r>
          </a:p>
          <a:p>
            <a:r>
              <a:rPr lang="vi-VN" sz="1800" b="1">
                <a:solidFill>
                  <a:schemeClr val="tx1"/>
                </a:solidFill>
                <a:latin typeface="+mn-lt"/>
              </a:rPr>
              <a:t>2. Bộ nhớ avgTruoc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• Lưu toàn bộ mảng -999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→ Có thể dùng Dictionary động thay vì mảng</a:t>
            </a:r>
          </a:p>
          <a:p>
            <a:r>
              <a:rPr lang="vi-VN" sz="1800" b="1">
                <a:solidFill>
                  <a:schemeClr val="tx1"/>
                </a:solidFill>
                <a:latin typeface="+mn-lt"/>
              </a:rPr>
              <a:t>3. Cố định 2x2</a:t>
            </a:r>
          </a:p>
          <a:p>
            <a:pPr marL="284163" indent="-52388"/>
            <a:r>
              <a:rPr lang="vi-VN" sz="1800">
                <a:solidFill>
                  <a:schemeClr val="tx1"/>
                </a:solidFill>
                <a:latin typeface="+mn-lt"/>
              </a:rPr>
              <a:t>• Chỉ kiểm tra ô vuông 2x2</a:t>
            </a:r>
          </a:p>
          <a:p>
            <a:pPr marL="342900" indent="-342900">
              <a:buAutoNum type="arabicPeriod" startAt="4"/>
            </a:pPr>
            <a:r>
              <a:rPr lang="vi-VN" sz="1800" b="1">
                <a:solidFill>
                  <a:schemeClr val="tx1"/>
                </a:solidFill>
                <a:latin typeface="+mn-lt"/>
              </a:rPr>
              <a:t>Ngưỡng tĩnh</a:t>
            </a:r>
          </a:p>
          <a:p>
            <a:pPr marL="285750" indent="-57150">
              <a:buFont typeface="Arial" panose="020B0604020202020204" pitchFamily="34" charset="0"/>
              <a:buChar char="•"/>
            </a:pPr>
            <a:r>
              <a:rPr lang="vi-VN" sz="1800" b="1">
                <a:solidFill>
                  <a:schemeClr val="tx1"/>
                </a:solidFill>
                <a:latin typeface="+mn-lt"/>
              </a:rPr>
              <a:t> </a:t>
            </a:r>
            <a:r>
              <a:rPr lang="vi-VN" sz="1800">
                <a:solidFill>
                  <a:schemeClr val="tx1"/>
                </a:solidFill>
                <a:latin typeface="+mn-lt"/>
              </a:rPr>
              <a:t>NGUONG =3.0 (const)</a:t>
            </a:r>
          </a:p>
          <a:p>
            <a:pPr marL="61913" indent="-61913"/>
            <a:r>
              <a:rPr lang="vi-VN" sz="1800" b="1" u="sng">
                <a:solidFill>
                  <a:srgbClr val="7030A0"/>
                </a:solidFill>
                <a:latin typeface="+mn-lt"/>
              </a:rPr>
              <a:t>Hướng phát triển</a:t>
            </a:r>
          </a:p>
          <a:p>
            <a:pPr marL="285750" indent="-109538">
              <a:buFont typeface="Arial" panose="020B0604020202020204" pitchFamily="34" charset="0"/>
              <a:buChar char="•"/>
            </a:pPr>
            <a:r>
              <a:rPr lang="vi-VN" sz="1800">
                <a:solidFill>
                  <a:schemeClr val="tx1"/>
                </a:solidFill>
              </a:rPr>
              <a:t>Tối ưu: Parallel, Lazy, Caching </a:t>
            </a:r>
          </a:p>
          <a:p>
            <a:pPr marL="285750" indent="-109538">
              <a:buFont typeface="Arial" panose="020B0604020202020204" pitchFamily="34" charset="0"/>
              <a:buChar char="•"/>
            </a:pPr>
            <a:r>
              <a:rPr lang="vi-VN" sz="1800">
                <a:solidFill>
                  <a:schemeClr val="tx1"/>
                </a:solidFill>
              </a:rPr>
              <a:t>Mở rộng: Khu vực động, xu hướng </a:t>
            </a:r>
          </a:p>
          <a:p>
            <a:pPr marL="285750" indent="-109538">
              <a:buFont typeface="Arial" panose="020B0604020202020204" pitchFamily="34" charset="0"/>
              <a:buChar char="•"/>
            </a:pPr>
            <a:r>
              <a:rPr lang="vi-VN" sz="1800">
                <a:solidFill>
                  <a:schemeClr val="tx1"/>
                </a:solidFill>
              </a:rPr>
              <a:t>Machine learning: Anomaly detection, dự đoán</a:t>
            </a:r>
            <a:endParaRPr lang="vi-VN" sz="1800" b="1" u="sng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483928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337316-2109-4DEF-AC06-7E484AB2E4F4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471</TotalTime>
  <Words>450</Words>
  <Application>Microsoft Office PowerPoint</Application>
  <PresentationFormat>Widescreen</PresentationFormat>
  <Paragraphs>53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Trebuchet MS</vt:lpstr>
      <vt:lpstr>Wingdings</vt:lpstr>
      <vt:lpstr>Wingdings 3</vt:lpstr>
      <vt:lpstr>Facet</vt:lpstr>
      <vt:lpstr>PowerPoint Presentation</vt:lpstr>
      <vt:lpstr>🏭 BÀI TẬP 3 – HỆ THỐNG CẢNH BÁO NHIỆT ĐỘ KHO LẠNH </vt:lpstr>
      <vt:lpstr>KẾT QUẢ VÀ GIỚI HẠN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Hào Mai Anh</dc:creator>
  <cp:lastModifiedBy>Hào Mai Anh</cp:lastModifiedBy>
  <cp:revision>20</cp:revision>
  <dcterms:created xsi:type="dcterms:W3CDTF">2025-10-25T13:42:52Z</dcterms:created>
  <dcterms:modified xsi:type="dcterms:W3CDTF">2025-12-21T08:16:23Z</dcterms:modified>
</cp:coreProperties>
</file>